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337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457200"/>
            <a:ext cx="5943600" cy="5943600"/>
          </a:xfrm>
          <a:prstGeom prst="ellipse">
            <a:avLst/>
          </a:prstGeom>
          <a:solidFill>
            <a:srgbClr val="C9A24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1188720"/>
            <a:ext cx="4480560" cy="4480560"/>
          </a:xfrm>
          <a:prstGeom prst="ellipse">
            <a:avLst/>
          </a:prstGeom>
          <a:ln w="6350">
            <a:solidFill>
              <a:srgbClr val="C9A24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4ED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STATISTICAL RESEARCH REPORT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F4EDE1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0" y="2103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4ED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· SPRING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B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STUDY IN BEHAVIOR, PERFORMANCE &amp; WELLBEING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8229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i="1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Students'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</a:t>
            </a:r>
            <a:r>
              <a:rPr lang="en-US" sz="5600" i="1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&amp; </a:t>
            </a:r>
            <a:endParaRPr lang="en-US" sz="5600" dirty="0"/>
          </a:p>
          <a:p>
            <a:pPr marL="0" indent="0">
              <a:buNone/>
            </a:pPr>
            <a:r>
              <a:rPr lang="en-US" sz="5600" i="1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</a:t>
            </a:r>
            <a:endParaRPr lang="en-US" sz="5600" dirty="0"/>
          </a:p>
          <a:p>
            <a:pPr marL="0" indent="0">
              <a:buNone/>
            </a:pPr>
            <a:r>
              <a:rPr lang="en-US" sz="5600" i="1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4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inferential and model-based analysis of 2,000 students — examining how study habits, sleep, social life, and physical activity shape GPA and stress.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6263640"/>
            <a:ext cx="10908792" cy="0"/>
          </a:xfrm>
          <a:prstGeom prst="line">
            <a:avLst/>
          </a:prstGeom>
          <a:noFill/>
          <a:ln w="6350">
            <a:solidFill>
              <a:srgbClr val="F4EDE1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6382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Khattab Al Saqri</a:t>
            </a:r>
            <a:endParaRPr lang="en-US" sz="1500" dirty="0"/>
          </a:p>
          <a:p>
            <a:pPr marL="0" indent="0">
              <a:buNone/>
            </a:pPr>
            <a:r>
              <a:rPr lang="en-US" sz="900" kern="0" spc="300" dirty="0">
                <a:solidFill>
                  <a:srgbClr val="9A91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138349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&amp; MOTIVATION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</a:t>
            </a: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meets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C2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Students' academic performance is shaped by a combination of behavioral and lifestyle factors — study habits, sleep patterns, social engagement, and physical activity.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factors influence not only outcomes like </a:t>
            </a:r>
            <a:r>
              <a:rPr lang="en-US" sz="1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also psychological wellbeing, often reflected through </a:t>
            </a:r>
            <a:r>
              <a:rPr lang="en-US" sz="1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levels</a:t>
            </a: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statistical perspective, this dataset offers a chance to apply both inferential and model-based techniques to mixed continuous/categorical real-world data — testing hypotheses, validating assumptions, and building predictive models.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2240280"/>
            <a:ext cx="4297680" cy="40233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2240280"/>
            <a:ext cx="4297680" cy="45720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OBJECTIVE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89520" y="2651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&amp; predict.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89520" y="31546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appropriate inferential procedures and advanced statistical modeling to evaluate how lifestyle factors explain and predict academic performance and stress levels.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89520" y="4937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EMPHASIS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89520" y="52120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suitable methods · validating assumptions · interpreting results in the context of student life.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INQUIRY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6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questions guide the entire analysis — from correlation and group differences to classification and clustering.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5486400" cy="11430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514600"/>
            <a:ext cx="45720" cy="1143000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060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63040" y="26517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there a significant relationship between </a:t>
            </a:r>
            <a:r>
              <a:rPr lang="en-US" sz="1300" b="1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hours</a:t>
            </a: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academic performance (GPA)?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2514600"/>
            <a:ext cx="5486400" cy="11430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2514600"/>
            <a:ext cx="45720" cy="1143000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26060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159752" y="26517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lifestyle factors ( </a:t>
            </a:r>
            <a:r>
              <a:rPr lang="en-US" sz="1300" b="1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sleep, social, physical activity</a:t>
            </a: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) relate to students' GPA?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858768"/>
            <a:ext cx="5486400" cy="11430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858768"/>
            <a:ext cx="45720" cy="1143000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5020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463040" y="399592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students with different </a:t>
            </a:r>
            <a:r>
              <a:rPr lang="en-US" sz="1300" b="1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levels</a:t>
            </a: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(low, medium, high) differ significantly in their lifestyle habits?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9632" y="3858768"/>
            <a:ext cx="5486400" cy="11430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3858768"/>
            <a:ext cx="45720" cy="1143000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3950208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159752" y="3995928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there a statistically significant </a:t>
            </a:r>
            <a:r>
              <a:rPr lang="en-US" sz="1300" b="1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association</a:t>
            </a: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between lifestyle variables and stress level?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5202936"/>
            <a:ext cx="5486400" cy="11430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" y="5202936"/>
            <a:ext cx="45720" cy="1143000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294376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463040" y="534009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students' </a:t>
            </a:r>
            <a:r>
              <a:rPr lang="en-US" sz="1300" b="1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levels</a:t>
            </a: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accurately predicted using lifestyle variables?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632" y="5202936"/>
            <a:ext cx="5486400" cy="11430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1" name="Shape 29"/>
          <p:cNvSpPr/>
          <p:nvPr/>
        </p:nvSpPr>
        <p:spPr>
          <a:xfrm>
            <a:off x="6199632" y="5202936"/>
            <a:ext cx="45720" cy="1143000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32" name="Text 30"/>
          <p:cNvSpPr/>
          <p:nvPr/>
        </p:nvSpPr>
        <p:spPr>
          <a:xfrm>
            <a:off x="6382512" y="5294376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159752" y="534009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there distinct </a:t>
            </a:r>
            <a:r>
              <a:rPr lang="en-US" sz="1300" b="1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groups of students</a:t>
            </a: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based on their lifestyle patterns?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CHOSEN STATISTICAL TECHNIQUES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methods, </a:t>
            </a:r>
            <a:r>
              <a:rPr lang="en-US" sz="34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 each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5577840" cy="233172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965960"/>
            <a:ext cx="5577840" cy="3657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848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INFERENTIAL · BIVARIATE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134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Pearson's Correlation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800" y="26791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A6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the strength and direction of a linear relationship between two continuous variables.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246120"/>
            <a:ext cx="5212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826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Σ(xᵢ − x̄)(yᵢ − ȳ) / √[Σ(xᵢ − x̄)² Σ(yᵢ − ȳ)²]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6850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Study Hours ↔ GPA, and the continuous-variable correlation matrix. Chosen because both variables are continuous and the scatter plot suggests linearity.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5577840" cy="233172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965960"/>
            <a:ext cx="5577840" cy="36576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0848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INFERENTIAL · GROUP COMPARISON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3134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One-Way ANOVA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0" y="26791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A6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whether the means of a continuous variable differ across 3+ categorical groups.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246120"/>
            <a:ext cx="5212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2826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MS(between) / MS(within)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6850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Comparing each lifestyle/academic variable across Low / Moderate / High stress. Chosen because Stress Level has three unordered groups and the outcomes are continuous.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5577840" cy="233172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434840"/>
            <a:ext cx="5577840" cy="36576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537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88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MODELING · CLASSIFICATION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47823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85800" y="51480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A6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a binary outcome as a function of multiple predictors via the logit link.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5715000"/>
            <a:ext cx="5212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51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logit(p) = log(p / (1 − p)) = β₀ + β₁x₁ + ... + βₖxₖ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61539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Predicting High vs. Low/Moderate stress from lifestyle + GPA. Chosen because the outcome is categorical and a linear model on probabilities would violate the [0,1] constraint.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434840"/>
            <a:ext cx="5577840" cy="233172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4434840"/>
            <a:ext cx="5577840" cy="36576"/>
          </a:xfrm>
          <a:prstGeom prst="rect">
            <a:avLst/>
          </a:prstGeom>
          <a:solidFill>
            <a:srgbClr val="6789C4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45537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B6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MODELING · UNSUPERVISED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7823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6400800" y="514807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A6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Partitions observations into k groups that minimize within-cluster variance.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5715000"/>
            <a:ext cx="5212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57515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argmin Σᵢ Σ(x ∈ Cᵢ) ‖x − μᵢ‖²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61539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Discovering natural student lifestyle profiles without using labels. Chosen because it scales well, is interpretable, and works on standardized continuous predictors.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A2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2423160"/>
            <a:ext cx="121916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i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638648" y="4709160"/>
            <a:ext cx="914400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2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Inspecting, cleaning, and understanding the data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STRUCTURE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columns,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thousand</a:t>
            </a: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rows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2679192" cy="10515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920240"/>
            <a:ext cx="2679192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2996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267712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student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920240"/>
            <a:ext cx="2679192" cy="10515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920240"/>
            <a:ext cx="2679192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02996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2267712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29000" y="26974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numeric · 1 categorical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1920240"/>
            <a:ext cx="2679192" cy="10515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0760" y="1920240"/>
            <a:ext cx="2679192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029968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17920" y="2267712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0" y="269748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[2.24, 4.00]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69680" y="1920240"/>
            <a:ext cx="2834640" cy="10515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9680" y="1920240"/>
            <a:ext cx="2834640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26" name="Text 24"/>
          <p:cNvSpPr/>
          <p:nvPr/>
        </p:nvSpPr>
        <p:spPr>
          <a:xfrm>
            <a:off x="9006840" y="2029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006840" y="2267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Level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006840" y="2697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Moderate · 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3246120"/>
            <a:ext cx="3730752" cy="1627632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246120"/>
            <a:ext cx="45720" cy="16276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38328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· PREDICTOR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63016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Hours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85800" y="4023360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time spent studying. Range 5–10 hrs, mean ≈ 7.48.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52544" y="3246120"/>
            <a:ext cx="3730752" cy="1627632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5" name="Shape 33"/>
          <p:cNvSpPr/>
          <p:nvPr/>
        </p:nvSpPr>
        <p:spPr>
          <a:xfrm>
            <a:off x="4352544" y="3246120"/>
            <a:ext cx="45720" cy="16276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6" name="Text 34"/>
          <p:cNvSpPr/>
          <p:nvPr/>
        </p:nvSpPr>
        <p:spPr>
          <a:xfrm>
            <a:off x="4535424" y="338328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· PREDICTOR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35424" y="363016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Hours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535424" y="4023360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sleep. Range 5–10 hrs, mean ≈ 7.50.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02168" y="3246120"/>
            <a:ext cx="3730752" cy="1627632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0" name="Shape 38"/>
          <p:cNvSpPr/>
          <p:nvPr/>
        </p:nvSpPr>
        <p:spPr>
          <a:xfrm>
            <a:off x="8202168" y="3246120"/>
            <a:ext cx="45720" cy="16276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1" name="Text 39"/>
          <p:cNvSpPr/>
          <p:nvPr/>
        </p:nvSpPr>
        <p:spPr>
          <a:xfrm>
            <a:off x="8385048" y="3383280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· PREDICTOR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85048" y="363016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Hours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385048" y="4023360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social activities. Range 0–6 hrs, mean ≈ 2.70.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4992624"/>
            <a:ext cx="3730752" cy="1627632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" y="4992624"/>
            <a:ext cx="45720" cy="16276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5129784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· PREDICTOR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" y="537667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Activity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85800" y="5769864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 exercise. Range 0–13 hrs, mean ≈ 4.33.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52544" y="4992624"/>
            <a:ext cx="3730752" cy="1627632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50" name="Shape 48"/>
          <p:cNvSpPr/>
          <p:nvPr/>
        </p:nvSpPr>
        <p:spPr>
          <a:xfrm>
            <a:off x="4352544" y="4992624"/>
            <a:ext cx="45720" cy="16276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51" name="Text 49"/>
          <p:cNvSpPr/>
          <p:nvPr/>
        </p:nvSpPr>
        <p:spPr>
          <a:xfrm>
            <a:off x="4535424" y="5129784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· OUTCOME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35424" y="537667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4535424" y="5769864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Point Average, academic performance measure.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02168" y="4992624"/>
            <a:ext cx="3730752" cy="1627632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55" name="Shape 53"/>
          <p:cNvSpPr/>
          <p:nvPr/>
        </p:nvSpPr>
        <p:spPr>
          <a:xfrm>
            <a:off x="8202168" y="4992624"/>
            <a:ext cx="45720" cy="1627632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56" name="Text 54"/>
          <p:cNvSpPr/>
          <p:nvPr/>
        </p:nvSpPr>
        <p:spPr>
          <a:xfrm>
            <a:off x="8385048" y="5129784"/>
            <a:ext cx="3456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CATEGORICAL · OUTCOME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385048" y="537667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Level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8385048" y="5769864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stress: Low, Moderate, High.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DATA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VALUES · MICE IMPUTATION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Sixty-four</a:t>
            </a:r>
            <a:r>
              <a:rPr lang="en-US" sz="36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gaps, thoughtfully filled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missing values</a:t>
            </a: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spread across 7 variables — moderate in proportion but too scattered to safely drop rows.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Hours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2606040"/>
            <a:ext cx="3657600" cy="201168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148840" y="2606040"/>
            <a:ext cx="3657600" cy="201168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3" name="Text 11"/>
          <p:cNvSpPr/>
          <p:nvPr/>
        </p:nvSpPr>
        <p:spPr>
          <a:xfrm>
            <a:off x="5897880" y="2560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898648"/>
            <a:ext cx="5852160" cy="0"/>
          </a:xfrm>
          <a:prstGeom prst="line">
            <a:avLst/>
          </a:prstGeom>
          <a:noFill/>
          <a:ln w="6350">
            <a:solidFill>
              <a:srgbClr val="2A2F38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443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Extracurricular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48840" y="2990088"/>
            <a:ext cx="3657600" cy="201168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148840" y="2990088"/>
            <a:ext cx="3452774" cy="201168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8" name="Text 16"/>
          <p:cNvSpPr/>
          <p:nvPr/>
        </p:nvSpPr>
        <p:spPr>
          <a:xfrm>
            <a:off x="5897880" y="2944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282696"/>
            <a:ext cx="5852160" cy="0"/>
          </a:xfrm>
          <a:prstGeom prst="line">
            <a:avLst/>
          </a:prstGeom>
          <a:noFill/>
          <a:ln w="6350">
            <a:solidFill>
              <a:srgbClr val="2A2F38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284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Hours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48840" y="3374136"/>
            <a:ext cx="3657600" cy="201168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148840" y="3374136"/>
            <a:ext cx="3046781" cy="201168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23" name="Text 21"/>
          <p:cNvSpPr/>
          <p:nvPr/>
        </p:nvSpPr>
        <p:spPr>
          <a:xfrm>
            <a:off x="5897880" y="33284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66744"/>
            <a:ext cx="5852160" cy="0"/>
          </a:xfrm>
          <a:prstGeom prst="line">
            <a:avLst/>
          </a:prstGeom>
          <a:noFill/>
          <a:ln w="6350">
            <a:solidFill>
              <a:srgbClr val="2A2F38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124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Activity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48840" y="3758184"/>
            <a:ext cx="3657600" cy="201168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7" name="Shape 25"/>
          <p:cNvSpPr/>
          <p:nvPr/>
        </p:nvSpPr>
        <p:spPr>
          <a:xfrm>
            <a:off x="2148840" y="3758184"/>
            <a:ext cx="1422806" cy="201168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37124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050792"/>
            <a:ext cx="5852160" cy="0"/>
          </a:xfrm>
          <a:prstGeom prst="line">
            <a:avLst/>
          </a:prstGeom>
          <a:noFill/>
          <a:ln w="6350">
            <a:solidFill>
              <a:srgbClr val="2A2F38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Hours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48840" y="4142232"/>
            <a:ext cx="3657600" cy="201168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2" name="Shape 30"/>
          <p:cNvSpPr/>
          <p:nvPr/>
        </p:nvSpPr>
        <p:spPr>
          <a:xfrm>
            <a:off x="2148840" y="4142232"/>
            <a:ext cx="811987" cy="201168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33" name="Text 31"/>
          <p:cNvSpPr/>
          <p:nvPr/>
        </p:nvSpPr>
        <p:spPr>
          <a:xfrm>
            <a:off x="5897880" y="4096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4434840"/>
            <a:ext cx="5852160" cy="0"/>
          </a:xfrm>
          <a:prstGeom prst="line">
            <a:avLst/>
          </a:prstGeom>
          <a:noFill/>
          <a:ln w="6350">
            <a:solidFill>
              <a:srgbClr val="2A2F38">
                <a:alpha val="1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48840" y="4526280"/>
            <a:ext cx="3657600" cy="201168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7" name="Shape 35"/>
          <p:cNvSpPr/>
          <p:nvPr/>
        </p:nvSpPr>
        <p:spPr>
          <a:xfrm>
            <a:off x="2148840" y="4526280"/>
            <a:ext cx="405994" cy="201168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38" name="Text 36"/>
          <p:cNvSpPr/>
          <p:nvPr/>
        </p:nvSpPr>
        <p:spPr>
          <a:xfrm>
            <a:off x="5897880" y="4480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4818888"/>
            <a:ext cx="5852160" cy="0"/>
          </a:xfrm>
          <a:prstGeom prst="line">
            <a:avLst/>
          </a:prstGeom>
          <a:noFill/>
          <a:ln w="6350">
            <a:solidFill>
              <a:srgbClr val="2A2F38">
                <a:alpha val="1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8646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Level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48840" y="4910328"/>
            <a:ext cx="3657600" cy="201168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2" name="Shape 40"/>
          <p:cNvSpPr/>
          <p:nvPr/>
        </p:nvSpPr>
        <p:spPr>
          <a:xfrm>
            <a:off x="2148840" y="4910328"/>
            <a:ext cx="204826" cy="201168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43" name="Text 41"/>
          <p:cNvSpPr/>
          <p:nvPr/>
        </p:nvSpPr>
        <p:spPr>
          <a:xfrm>
            <a:off x="5897880" y="4864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4944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MICE?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949440" y="2423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Imputation by Chained Equations generates statistically sound, unbiased estimates while using all the available information.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49440" y="3557016"/>
            <a:ext cx="118872" cy="1371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47" name="Text 45"/>
          <p:cNvSpPr/>
          <p:nvPr/>
        </p:nvSpPr>
        <p:spPr>
          <a:xfrm>
            <a:off x="7178040" y="34290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relationships</a:t>
            </a: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imputes each missing value from a predictive model of the other variables.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49440" y="4270248"/>
            <a:ext cx="118872" cy="1371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49" name="Text 47"/>
          <p:cNvSpPr/>
          <p:nvPr/>
        </p:nvSpPr>
        <p:spPr>
          <a:xfrm>
            <a:off x="7178040" y="41422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uncertainty</a:t>
            </a: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produces multiple imputed datasets; standard errors are not artificially shrunken.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49440" y="4983480"/>
            <a:ext cx="118872" cy="1371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51" name="Text 49"/>
          <p:cNvSpPr/>
          <p:nvPr/>
        </p:nvSpPr>
        <p:spPr>
          <a:xfrm>
            <a:off x="7178040" y="48554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types</a:t>
            </a: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continuous (hours, GPA) and categorical (Stress Level) together.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49440" y="5696712"/>
            <a:ext cx="118872" cy="1371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53" name="Text 51"/>
          <p:cNvSpPr/>
          <p:nvPr/>
        </p:nvSpPr>
        <p:spPr>
          <a:xfrm>
            <a:off x="7178040" y="55686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row deletion</a:t>
            </a: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keeps the full sample size and statistical power.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UNIVARIATE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VARIABLES · PART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 &amp; Study Hours </a:t>
            </a:r>
            <a:r>
              <a:rPr lang="en-US" sz="34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shape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5532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3042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 Distribution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8980" y="2130552"/>
            <a:ext cx="260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3.116 · med = 3.11</a:t>
            </a:r>
            <a:endParaRPr lang="en-US" sz="900" dirty="0"/>
          </a:p>
        </p:txBody>
      </p:sp>
      <p:pic>
        <p:nvPicPr>
          <p:cNvPr id="12" name="Image 0" descr="/mnt/user-data/outputs/charts/gpa_h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423160"/>
            <a:ext cx="5257800" cy="123215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0080" y="3728466"/>
            <a:ext cx="36576" cy="432054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72846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SYMMETRIC · NORMAL-LIKE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31520" y="3929634"/>
            <a:ext cx="516636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2.24–4.00. Histogram is bell-shaped; mean ≈ median confirms symmetry. No meaningful outliers.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72200" y="2011680"/>
            <a:ext cx="5532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2103120"/>
            <a:ext cx="3042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 Boxplot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38260" y="2130552"/>
            <a:ext cx="260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IQR: 2.90 — 3.33</a:t>
            </a:r>
            <a:endParaRPr lang="en-US" sz="900" dirty="0"/>
          </a:p>
        </p:txBody>
      </p:sp>
      <p:pic>
        <p:nvPicPr>
          <p:cNvPr id="19" name="Image 1" descr="/mnt/user-data/outputs/charts/gpa_bo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423160"/>
            <a:ext cx="5257800" cy="123215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309360" y="3728466"/>
            <a:ext cx="36576" cy="432054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372846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 &amp; RELIABLE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6400800" y="3929634"/>
            <a:ext cx="516636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whiskers, tight IQR. Data is well-behaved and suitable for parametric tests downstream.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02920" y="4389120"/>
            <a:ext cx="5532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" y="4480560"/>
            <a:ext cx="3042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Hours Distribution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268980" y="4507992"/>
            <a:ext cx="260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7.48 · med = 7.40</a:t>
            </a:r>
            <a:endParaRPr lang="en-US" sz="900" dirty="0"/>
          </a:p>
        </p:txBody>
      </p:sp>
      <p:pic>
        <p:nvPicPr>
          <p:cNvPr id="26" name="Image 2" descr="/mnt/user-data/outputs/charts/study_his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" y="4800600"/>
            <a:ext cx="5257800" cy="123215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40080" y="6105906"/>
            <a:ext cx="36576" cy="432054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8" name="Text 23"/>
          <p:cNvSpPr/>
          <p:nvPr/>
        </p:nvSpPr>
        <p:spPr>
          <a:xfrm>
            <a:off x="731520" y="610590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UNIFORM-LIKE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731520" y="6307074"/>
            <a:ext cx="516636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5–10 hrs. Bars are nearly even across the range — students distribute study time broadly.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172200" y="4389120"/>
            <a:ext cx="5532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09360" y="4480560"/>
            <a:ext cx="3042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Hours Boxplot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938260" y="4507992"/>
            <a:ext cx="260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IQR: 6.30 — 8.70</a:t>
            </a:r>
            <a:endParaRPr lang="en-US" sz="900" dirty="0"/>
          </a:p>
        </p:txBody>
      </p:sp>
      <p:pic>
        <p:nvPicPr>
          <p:cNvPr id="33" name="Image 3" descr="/mnt/user-data/outputs/charts/study_box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09360" y="4800600"/>
            <a:ext cx="5257800" cy="1232154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9360" y="6105906"/>
            <a:ext cx="36576" cy="432054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5" name="Text 29"/>
          <p:cNvSpPr/>
          <p:nvPr/>
        </p:nvSpPr>
        <p:spPr>
          <a:xfrm>
            <a:off x="6400800" y="610590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OUTLIERS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6400800" y="6307074"/>
            <a:ext cx="516636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around the median; no skewness. Middle 50% spans a realistic 2.4-hour window.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UNIVARIATE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VARIABLES · PART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&amp; Social Hours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5532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3042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Hours Distribution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8980" y="2130552"/>
            <a:ext cx="260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7.50 · med = 7.50</a:t>
            </a:r>
            <a:endParaRPr lang="en-US" sz="900" dirty="0"/>
          </a:p>
        </p:txBody>
      </p:sp>
      <p:pic>
        <p:nvPicPr>
          <p:cNvPr id="12" name="Image 0" descr="/mnt/user-data/outputs/charts/sleep_h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423160"/>
            <a:ext cx="5257800" cy="123215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0080" y="3728466"/>
            <a:ext cx="36576" cy="432054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72846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HIGHLY SYMMETRIC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31520" y="3929634"/>
            <a:ext cx="516636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5–10 hrs. Mean equals median almost exactly — distribution is clean and well-behaved.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72200" y="2011680"/>
            <a:ext cx="5532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2103120"/>
            <a:ext cx="3042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Hours Boxplot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38260" y="2130552"/>
            <a:ext cx="260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IQR: 6.20 — 8.80</a:t>
            </a:r>
            <a:endParaRPr lang="en-US" sz="900" dirty="0"/>
          </a:p>
        </p:txBody>
      </p:sp>
      <p:pic>
        <p:nvPicPr>
          <p:cNvPr id="19" name="Image 1" descr="/mnt/user-data/outputs/charts/sleep_bo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423160"/>
            <a:ext cx="5257800" cy="123215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309360" y="3728466"/>
            <a:ext cx="36576" cy="432054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372846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BALANCED · NO OUTLIERS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6400800" y="3929634"/>
            <a:ext cx="516636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whisker lengths, symmetric IQR. Consistent sleep patterns across the sample.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02920" y="4389120"/>
            <a:ext cx="5532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" y="4480560"/>
            <a:ext cx="3042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Hours Distribution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268980" y="4507992"/>
            <a:ext cx="260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2.70 · med = 2.60</a:t>
            </a:r>
            <a:endParaRPr lang="en-US" sz="900" dirty="0"/>
          </a:p>
        </p:txBody>
      </p:sp>
      <p:pic>
        <p:nvPicPr>
          <p:cNvPr id="26" name="Image 2" descr="/mnt/user-data/outputs/charts/social_his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080" y="4800600"/>
            <a:ext cx="5257800" cy="123215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40080" y="6105906"/>
            <a:ext cx="36576" cy="432054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8" name="Text 23"/>
          <p:cNvSpPr/>
          <p:nvPr/>
        </p:nvSpPr>
        <p:spPr>
          <a:xfrm>
            <a:off x="731520" y="610590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RIGHT-SKEWED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731520" y="6307074"/>
            <a:ext cx="516636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0–6 hrs. Most students cluster at lower social hours; a long tail of higher-engagement students.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172200" y="4389120"/>
            <a:ext cx="55321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309360" y="4480560"/>
            <a:ext cx="3042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Hours Boxplot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938260" y="4507992"/>
            <a:ext cx="260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IQR: 1.20 — 4.10</a:t>
            </a:r>
            <a:endParaRPr lang="en-US" sz="900" dirty="0"/>
          </a:p>
        </p:txBody>
      </p:sp>
      <p:pic>
        <p:nvPicPr>
          <p:cNvPr id="33" name="Image 3" descr="/mnt/user-data/outputs/charts/social_box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09360" y="4800600"/>
            <a:ext cx="5257800" cy="1232154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09360" y="6105906"/>
            <a:ext cx="36576" cy="432054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5" name="Text 29"/>
          <p:cNvSpPr/>
          <p:nvPr/>
        </p:nvSpPr>
        <p:spPr>
          <a:xfrm>
            <a:off x="6400800" y="6105906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WHISKER LONGER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6400800" y="6307074"/>
            <a:ext cx="516636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right-skew. No formal outliers, but the distribution reaches upward more than downward.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UNIVARIATE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VARIABLES · PART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Activity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5532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148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= 4.33 · med = 4.10</a:t>
            </a:r>
            <a:endParaRPr lang="en-US" sz="1000" dirty="0"/>
          </a:p>
        </p:txBody>
      </p:sp>
      <p:pic>
        <p:nvPicPr>
          <p:cNvPr id="12" name="Image 0" descr="/mnt/user-data/outputs/charts/pa_h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468880"/>
            <a:ext cx="5257800" cy="23317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72200" y="2011680"/>
            <a:ext cx="5532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Boxplot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915400" y="2148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IQR: 2.40 — 6.10 · max 13</a:t>
            </a:r>
            <a:endParaRPr lang="en-US" sz="1000" dirty="0"/>
          </a:p>
        </p:txBody>
      </p:sp>
      <p:pic>
        <p:nvPicPr>
          <p:cNvPr id="16" name="Image 1" descr="/mnt/user-data/outputs/charts/pa_bo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2468880"/>
            <a:ext cx="5257800" cy="23317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2920" y="5120640"/>
            <a:ext cx="36576" cy="155448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5148072"/>
            <a:ext cx="11018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MILD RIGHT-SKEW · WIDER SPREAD THAN OTHER VARIABLES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40080" y="5394960"/>
            <a:ext cx="11018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0–13 hours — the widest of any continuous variable. Mean (4.33) exceeds the median (4.10), and the upper whisker is longer. Most students cluster at moderate levels, with a smaller group engaging in much heavier activity. No formal outliers.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UNIVARIATE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CATEGORICAL VARIABLE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Level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imbalance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64008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0" name="Image 0" descr="/mnt/user-data/outputs/charts/stress_b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2139696"/>
            <a:ext cx="6144768" cy="40416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— BAR CHART OF STRESS LEVEL FREQUENCIES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132320" y="2011680"/>
            <a:ext cx="4572000" cy="1005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3" name="Shape 10"/>
          <p:cNvSpPr/>
          <p:nvPr/>
        </p:nvSpPr>
        <p:spPr>
          <a:xfrm>
            <a:off x="7132320" y="2011680"/>
            <a:ext cx="4572000" cy="3657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2148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STRESS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1,029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10515600" y="2514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51.5%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32320" y="3127248"/>
            <a:ext cx="4572000" cy="1005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8" name="Shape 15"/>
          <p:cNvSpPr/>
          <p:nvPr/>
        </p:nvSpPr>
        <p:spPr>
          <a:xfrm>
            <a:off x="7132320" y="3127248"/>
            <a:ext cx="4572000" cy="36576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0" y="32644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MODERATE STRESS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315200" y="35387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674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10515600" y="3630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33.7%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132320" y="4242816"/>
            <a:ext cx="4572000" cy="1005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0" y="4242816"/>
            <a:ext cx="4572000" cy="36576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0" y="43799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STRESS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15200" y="46542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296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10515600" y="47457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14.8%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132320" y="5532120"/>
            <a:ext cx="36576" cy="77724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8" name="Text 25"/>
          <p:cNvSpPr/>
          <p:nvPr/>
        </p:nvSpPr>
        <p:spPr>
          <a:xfrm>
            <a:off x="7269480" y="55595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OBSERVATION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69480" y="5806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the students are in the High stress category — a striking concentration that previews one of the study's central findings.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BIVARIATE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× CONTINUOUS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look: </a:t>
            </a:r>
            <a:r>
              <a:rPr lang="en-US" sz="34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Hours</a:t>
            </a: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vs. </a:t>
            </a:r>
            <a:r>
              <a:rPr lang="en-US" sz="34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64008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0" name="Image 0" descr="/mnt/user-data/outputs/charts/study_vs_gp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2139696"/>
            <a:ext cx="6144768" cy="40416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— SCATTER WITH FITTED LINEAR REGRESSION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13232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positive trend.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132320" y="2606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fitted regression line rises from bottom-left to top-right — more study time tends to mean a higher GPA. But the scatter is wide: students with similar study hours land at noticeably different GPAs.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32320" y="4416552"/>
            <a:ext cx="118872" cy="1371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5" name="Text 12"/>
          <p:cNvSpPr/>
          <p:nvPr/>
        </p:nvSpPr>
        <p:spPr>
          <a:xfrm>
            <a:off x="7360920" y="42976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is a strong predictor, but not the only one.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0" y="5056632"/>
            <a:ext cx="118872" cy="1371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7" name="Text 14"/>
          <p:cNvSpPr/>
          <p:nvPr/>
        </p:nvSpPr>
        <p:spPr>
          <a:xfrm>
            <a:off x="7360920" y="49377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stress, social life, and physical activity likely explain the residual variation.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132320" y="5696712"/>
            <a:ext cx="118872" cy="1371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9" name="Text 16"/>
          <p:cNvSpPr/>
          <p:nvPr/>
        </p:nvSpPr>
        <p:spPr>
          <a:xfrm>
            <a:off x="7360920" y="557784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visual motivates the Pearson correlation test in Part I.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BIVARIATE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CATEGORICAL × CONTINUOUS · STRESS LEVEL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stress </a:t>
            </a:r>
            <a:r>
              <a:rPr lang="en-US" sz="34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splits</a:t>
            </a: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lifestyle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675888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 by Stress</a:t>
            </a:r>
            <a:endParaRPr lang="en-US" sz="1200" dirty="0"/>
          </a:p>
        </p:txBody>
      </p:sp>
      <p:pic>
        <p:nvPicPr>
          <p:cNvPr id="11" name="Image 0" descr="/mnt/user-data/outputs/charts/gpa_by_str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468880"/>
            <a:ext cx="3401568" cy="1554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315968" y="2011680"/>
            <a:ext cx="3675888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53128" y="21031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by Stress</a:t>
            </a:r>
            <a:endParaRPr lang="en-US" sz="1200" dirty="0"/>
          </a:p>
        </p:txBody>
      </p:sp>
      <p:pic>
        <p:nvPicPr>
          <p:cNvPr id="14" name="Image 1" descr="/mnt/user-data/outputs/charts/study_by_stre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3128" y="2468880"/>
            <a:ext cx="3401568" cy="1554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129016" y="2011680"/>
            <a:ext cx="3675888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66176" y="21031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by Stress</a:t>
            </a:r>
            <a:endParaRPr lang="en-US" sz="1200" dirty="0"/>
          </a:p>
        </p:txBody>
      </p:sp>
      <p:pic>
        <p:nvPicPr>
          <p:cNvPr id="17" name="Image 2" descr="/mnt/user-data/outputs/charts/sleep_by_stres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66176" y="2468880"/>
            <a:ext cx="3401568" cy="1554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02920" y="4297680"/>
            <a:ext cx="3675888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" y="43891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Activity by Stress</a:t>
            </a:r>
            <a:endParaRPr lang="en-US" sz="1200" dirty="0"/>
          </a:p>
        </p:txBody>
      </p:sp>
      <p:pic>
        <p:nvPicPr>
          <p:cNvPr id="20" name="Image 3" descr="/mnt/user-data/outputs/charts/pa_by_stress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" y="4754880"/>
            <a:ext cx="3401568" cy="15544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315968" y="4297680"/>
            <a:ext cx="3675888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453128" y="43891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Hours by Stress</a:t>
            </a:r>
            <a:endParaRPr lang="en-US" sz="1200" dirty="0"/>
          </a:p>
        </p:txBody>
      </p:sp>
      <p:pic>
        <p:nvPicPr>
          <p:cNvPr id="23" name="Image 4" descr="/mnt/user-data/outputs/charts/social_by_stress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53128" y="4754880"/>
            <a:ext cx="3401568" cy="155448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129016" y="4297680"/>
            <a:ext cx="3675888" cy="2148840"/>
          </a:xfrm>
          <a:prstGeom prst="rect">
            <a:avLst/>
          </a:prstGeom>
          <a:solidFill>
            <a:srgbClr val="FAF5E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311896" y="443484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Emerging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8311896" y="5029200"/>
            <a:ext cx="9144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27" name="Text 20"/>
          <p:cNvSpPr/>
          <p:nvPr/>
        </p:nvSpPr>
        <p:spPr>
          <a:xfrm>
            <a:off x="8476488" y="493776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High-stress: ↑ study, ↑ GPA.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311896" y="5413248"/>
            <a:ext cx="9144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29" name="Text 22"/>
          <p:cNvSpPr/>
          <p:nvPr/>
        </p:nvSpPr>
        <p:spPr>
          <a:xfrm>
            <a:off x="8476488" y="532180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High-stress: ↓ sleep, ↓ activity.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311896" y="5797296"/>
            <a:ext cx="9144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31" name="Text 24"/>
          <p:cNvSpPr/>
          <p:nvPr/>
        </p:nvSpPr>
        <p:spPr>
          <a:xfrm>
            <a:off x="8476488" y="5705856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hours barely differ.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EDA · SYNTHESIS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EXPLORATORY ANALYSIS · WRAP-UP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EDA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730752" cy="21945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011680"/>
            <a:ext cx="3730752" cy="3657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1488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" y="246888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 is driven by study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" y="3017520"/>
            <a:ext cx="3364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and correlation both point toward study hours as the primary lever on academic performance.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70832" y="2011680"/>
            <a:ext cx="3730752" cy="21945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0832" y="2011680"/>
            <a:ext cx="3730752" cy="3657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1488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is the mediator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3017520"/>
            <a:ext cx="3364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study correlates with more stress; more stress correlates with better grades but also less sleep and less activity.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38744" y="2011680"/>
            <a:ext cx="3730752" cy="21945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38744" y="2011680"/>
            <a:ext cx="3730752" cy="3657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21" name="Text 19"/>
          <p:cNvSpPr/>
          <p:nvPr/>
        </p:nvSpPr>
        <p:spPr>
          <a:xfrm>
            <a:off x="8439912" y="214884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39912" y="2468880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24-hour constraint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39912" y="3017520"/>
            <a:ext cx="3364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dedicated to one activity visibly displaces others — especially study vs. physical activity and sleep vs. social.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434840"/>
            <a:ext cx="11201400" cy="1828800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17720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 TO PART 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4892040"/>
            <a:ext cx="10652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reveals a structured relationship between academic performance, stress, and lifestyle. The next step is to formally test whether these visual patterns hold up under correlation and ANOVA, and then model them.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A2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2423160"/>
            <a:ext cx="121916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i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638648" y="4709160"/>
            <a:ext cx="914400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Inferential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2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&amp; One-Way ANOVA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PEARSON'S 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PEARSON'S CORRELATION · ASSUMPTIONS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testing: </a:t>
            </a:r>
            <a:r>
              <a:rPr lang="en-US" sz="34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assumptions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965960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1" name="Shape 9"/>
          <p:cNvSpPr/>
          <p:nvPr/>
        </p:nvSpPr>
        <p:spPr>
          <a:xfrm>
            <a:off x="3264408" y="213055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" y="2103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Continuous variables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" y="2532888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253288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603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X and Y must be measured on a continuous (interval / ratio) scale.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" y="31089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7512" y="331012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and GPA are both continuous numeric measurements.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06824" y="1965960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06824" y="1965960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68312" y="213055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7068312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71416" y="2103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Paired observations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71416" y="2532888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71416" y="253288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25603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X-value must correspond to one Y-value for the same subject.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71416" y="31089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71416" y="331012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has both a Study Hours and a GPA value after MICE imputation (n = 2000).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10728" y="1965960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0" name="Shape 28"/>
          <p:cNvSpPr/>
          <p:nvPr/>
        </p:nvSpPr>
        <p:spPr>
          <a:xfrm>
            <a:off x="8110728" y="1965960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72216" y="213055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2" name="Text 30"/>
          <p:cNvSpPr/>
          <p:nvPr/>
        </p:nvSpPr>
        <p:spPr>
          <a:xfrm>
            <a:off x="10872216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75320" y="2103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Linearity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75320" y="2532888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75320" y="253288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6" name="Text 34"/>
          <p:cNvSpPr/>
          <p:nvPr/>
        </p:nvSpPr>
        <p:spPr>
          <a:xfrm>
            <a:off x="8357616" y="25603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relationship between X and Y should be linear, not curved.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31089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75320" y="331012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shows a clear straight-line trend, with points scattered around a linear best-fit line.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4242816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242816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1" name="Shape 39"/>
          <p:cNvSpPr/>
          <p:nvPr/>
        </p:nvSpPr>
        <p:spPr>
          <a:xfrm>
            <a:off x="3264408" y="4407408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2" name="Text 40"/>
          <p:cNvSpPr/>
          <p:nvPr/>
        </p:nvSpPr>
        <p:spPr>
          <a:xfrm>
            <a:off x="3264408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7512" y="437997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Bivariate normality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67512" y="4809744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7512" y="4809744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" y="4837176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and Y should be approximately normally distributed.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" y="538581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7512" y="5586984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is bell-shaped; Study Hours uniform but symmetric. With n = 2000, CLT makes r robust regardless.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06824" y="4242816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50" name="Shape 48"/>
          <p:cNvSpPr/>
          <p:nvPr/>
        </p:nvSpPr>
        <p:spPr>
          <a:xfrm>
            <a:off x="4306824" y="4242816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51" name="Shape 49"/>
          <p:cNvSpPr/>
          <p:nvPr/>
        </p:nvSpPr>
        <p:spPr>
          <a:xfrm>
            <a:off x="7068312" y="4407408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52" name="Text 50"/>
          <p:cNvSpPr/>
          <p:nvPr/>
        </p:nvSpPr>
        <p:spPr>
          <a:xfrm>
            <a:off x="7068312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471416" y="437997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No extreme outliers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471416" y="4809744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471416" y="4809744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6" name="Text 54"/>
          <p:cNvSpPr/>
          <p:nvPr/>
        </p:nvSpPr>
        <p:spPr>
          <a:xfrm>
            <a:off x="4553712" y="4837176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Outliers distort r because squared deviations enter the formula.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471416" y="538581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471416" y="5586984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show no outliers in either variable — clean, symmetric distributions.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10728" y="4242816"/>
            <a:ext cx="3675888" cy="2148840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60" name="Shape 58"/>
          <p:cNvSpPr/>
          <p:nvPr/>
        </p:nvSpPr>
        <p:spPr>
          <a:xfrm>
            <a:off x="8110728" y="4242816"/>
            <a:ext cx="3675888" cy="4572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61" name="Text 59"/>
          <p:cNvSpPr/>
          <p:nvPr/>
        </p:nvSpPr>
        <p:spPr>
          <a:xfrm>
            <a:off x="8275320" y="4379976"/>
            <a:ext cx="22055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0597896" y="4407408"/>
            <a:ext cx="1051560" cy="256032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63" name="Text 61"/>
          <p:cNvSpPr/>
          <p:nvPr/>
        </p:nvSpPr>
        <p:spPr>
          <a:xfrm>
            <a:off x="10597896" y="44074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MET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275320" y="4882896"/>
            <a:ext cx="3346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five Pearson assumptions are satisfied. Parametric correlation is valid; no need to fall back to Spearman's rank correlation.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CORRELATION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PEARSON'S PRODUCT-MOMENT · 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Hours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</a:t>
            </a: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GPA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640080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0" name="Image 0" descr="/mnt/user-data/outputs/charts/study_vs_gp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2139696"/>
            <a:ext cx="6144768" cy="40416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3550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01 — SCATTER WITH FITTED LINEAR REGRESSION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132320" y="2011680"/>
            <a:ext cx="2194560" cy="12801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3" name="Shape 10"/>
          <p:cNvSpPr/>
          <p:nvPr/>
        </p:nvSpPr>
        <p:spPr>
          <a:xfrm>
            <a:off x="7132320" y="2011680"/>
            <a:ext cx="2194560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14" name="Text 11"/>
          <p:cNvSpPr/>
          <p:nvPr/>
        </p:nvSpPr>
        <p:spPr>
          <a:xfrm>
            <a:off x="726948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 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269480" y="23591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269480" y="3017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509760" y="2011680"/>
            <a:ext cx="2194560" cy="12801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8" name="Shape 15"/>
          <p:cNvSpPr/>
          <p:nvPr/>
        </p:nvSpPr>
        <p:spPr>
          <a:xfrm>
            <a:off x="9509760" y="2011680"/>
            <a:ext cx="2194560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19" name="Text 16"/>
          <p:cNvSpPr/>
          <p:nvPr/>
        </p:nvSpPr>
        <p:spPr>
          <a:xfrm>
            <a:off x="9646920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P-VALUE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646920" y="23591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2e-16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646920" y="3017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significant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132320" y="3474720"/>
            <a:ext cx="2194560" cy="12801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0" y="3474720"/>
            <a:ext cx="2194560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24" name="Text 21"/>
          <p:cNvSpPr/>
          <p:nvPr/>
        </p:nvSpPr>
        <p:spPr>
          <a:xfrm>
            <a:off x="7269480" y="3584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T-STATISTIC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269480" y="38221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48.42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7269480" y="4480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= 1998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9509760" y="3474720"/>
            <a:ext cx="2194560" cy="128016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8" name="Shape 25"/>
          <p:cNvSpPr/>
          <p:nvPr/>
        </p:nvSpPr>
        <p:spPr>
          <a:xfrm>
            <a:off x="9509760" y="3474720"/>
            <a:ext cx="2194560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29" name="Text 26"/>
          <p:cNvSpPr/>
          <p:nvPr/>
        </p:nvSpPr>
        <p:spPr>
          <a:xfrm>
            <a:off x="9646920" y="3584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 CI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9646920" y="382219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[0.714, 0.754]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646920" y="4480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range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132320" y="4983480"/>
            <a:ext cx="36576" cy="132588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3" name="Text 30"/>
          <p:cNvSpPr/>
          <p:nvPr/>
        </p:nvSpPr>
        <p:spPr>
          <a:xfrm>
            <a:off x="7269480" y="50109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69480" y="52578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positive correlation — more study time is reliably associated with higher GPA. The null hypothesis is rejected with high confidence. The robust t-statistic and tight confidence interval confirm a stable, meaningful relationship.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CORRELATION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CONTINUOUS VARIABLES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</a:t>
            </a: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map</a:t>
            </a:r>
            <a:endParaRPr lang="en-US" sz="3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6858000" cy="2926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kern="0" spc="200" dirty="0">
                          <a:solidFill>
                            <a:srgbClr val="6A6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kern="0" spc="200" dirty="0">
                          <a:solidFill>
                            <a:srgbClr val="6A6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SLEEP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kern="0" spc="200" dirty="0">
                          <a:solidFill>
                            <a:srgbClr val="6A6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SOCIAL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kern="0" spc="200" dirty="0">
                          <a:solidFill>
                            <a:srgbClr val="6A6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PHYS. ACT.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kern="0" spc="200" dirty="0">
                          <a:solidFill>
                            <a:srgbClr val="6A6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ED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0.028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−0.139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−0.488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4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0.028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ED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−0.194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−0.472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−0.004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−0.139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−0.194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ED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−0.416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−0.088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−0.488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−0.472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−0.416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ED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−0.340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0.735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4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−0.004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114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−0.088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8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−0.340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6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4ED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2103120"/>
            <a:ext cx="100584" cy="11887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0" y="2011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× GPA</a:t>
            </a: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dominant signal (r = 0.735). Study time is the single strongest linear predictor of academic performance.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589520" y="2670048"/>
            <a:ext cx="100584" cy="11887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0" y="25786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 × GPA</a:t>
            </a: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moderate negative (r = −0.340). More activity, lower GPA on average.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589520" y="3236976"/>
            <a:ext cx="100584" cy="11887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0" y="314553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× GPA</a:t>
            </a: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effectively zero (r = −0.004). A null direct relationship.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89520" y="3803904"/>
            <a:ext cx="100584" cy="11887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371246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Time-use trade-off</a:t>
            </a: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Study negatively correlates with both Physical Activity (−0.488) and Social Hours (−0.139).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589520" y="4370832"/>
            <a:ext cx="100584" cy="11887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9" name="Text 16"/>
          <p:cNvSpPr/>
          <p:nvPr/>
        </p:nvSpPr>
        <p:spPr>
          <a:xfrm>
            <a:off x="7772400" y="42793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displaces activity</a:t>
            </a: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Sleep negatively correlates with Social (−0.194) and Physical Activity (−0.472).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5303520"/>
            <a:ext cx="36576" cy="100584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533095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40080" y="55778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24-hour budget constraint is visible: time devoted to study crowds out activity and social life, and this reallocation — not sleep — is where academic gains come from.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ONE-WAY ANOVA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ONE-WAY ANOVA · ASSUMPTIONS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conditions for </a:t>
            </a:r>
            <a:r>
              <a:rPr lang="en-US" sz="34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 F-tests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5559552" cy="224028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011680"/>
            <a:ext cx="5559552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1" name="Shape 9"/>
          <p:cNvSpPr/>
          <p:nvPr/>
        </p:nvSpPr>
        <p:spPr>
          <a:xfrm>
            <a:off x="5148072" y="217627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148072" y="2176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" y="21488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Independence of observations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" y="2578608"/>
            <a:ext cx="5230368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257860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606040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observation belongs to exactly one group, and observations are independent of each other.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" y="3154680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7512" y="3355848"/>
            <a:ext cx="5230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appears in only one Stress Level group. Students were sampled independently — no repeated measurements or clustered sampling.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9632" y="2011680"/>
            <a:ext cx="5559552" cy="224028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0" name="Shape 18"/>
          <p:cNvSpPr/>
          <p:nvPr/>
        </p:nvSpPr>
        <p:spPr>
          <a:xfrm>
            <a:off x="6199632" y="2011680"/>
            <a:ext cx="5559552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44784" y="217627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10844784" y="2176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64224" y="21488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Normality within groups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64224" y="2578608"/>
            <a:ext cx="5230368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64224" y="257860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606040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response variable should be approximately normally distributed within each group.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64224" y="3154680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64224" y="3355848"/>
            <a:ext cx="5230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per stress group are symmetric with balanced whiskers. With group sizes 296 / 674 / 1029, the Central Limit Theorem ensures F-robustness.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389120"/>
            <a:ext cx="5559552" cy="224028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389120"/>
            <a:ext cx="5559552" cy="4572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31" name="Shape 29"/>
          <p:cNvSpPr/>
          <p:nvPr/>
        </p:nvSpPr>
        <p:spPr>
          <a:xfrm>
            <a:off x="5148072" y="4553712"/>
            <a:ext cx="777240" cy="256032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32" name="Text 30"/>
          <p:cNvSpPr/>
          <p:nvPr/>
        </p:nvSpPr>
        <p:spPr>
          <a:xfrm>
            <a:off x="5148072" y="4553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7512" y="452628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Homogeneity of variance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" y="4956048"/>
            <a:ext cx="5230368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95604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983480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Variances of the response variable should be roughly equal across groups (homoscedasticity).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" y="5532120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512" y="5733288"/>
            <a:ext cx="5230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IQRs are broadly comparable across stress tiers. Slight differences exist (e.g. Study Hours spread is narrower for Low-stress), but balanced group sizes let ANOVA tolerate mild violations.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99632" y="4389120"/>
            <a:ext cx="5559552" cy="224028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0" name="Shape 38"/>
          <p:cNvSpPr/>
          <p:nvPr/>
        </p:nvSpPr>
        <p:spPr>
          <a:xfrm>
            <a:off x="6199632" y="4389120"/>
            <a:ext cx="5559552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44784" y="455371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2" name="Text 40"/>
          <p:cNvSpPr/>
          <p:nvPr/>
        </p:nvSpPr>
        <p:spPr>
          <a:xfrm>
            <a:off x="10844784" y="4553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64224" y="452628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Continuous response &amp; categorical factor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364224" y="4956048"/>
            <a:ext cx="5230368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364224" y="495604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4983480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Dependent variable is interval/ratio; independent variable is a grouping factor with ≥ 2 levels.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64224" y="5532120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64224" y="5733288"/>
            <a:ext cx="5230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response (GPA, Study, Sleep, PhysAct, Social) is continuous. Stress Level is a 3-level factor — exactly the setup ANOVA was designed for.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ONE-WAY ANOVA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DIFFERENCES · STRESS LEVEL (3 GROUPS)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stress </a:t>
            </a:r>
            <a:r>
              <a:rPr lang="en-US" sz="32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reshape</a:t>
            </a:r>
            <a:r>
              <a:rPr lang="en-US" sz="3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performance &amp; study?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 by Stress Level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5532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1" name="Image 0" descr="/mnt/user-data/outputs/charts/gpa_by_str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2322576"/>
            <a:ext cx="5276088" cy="2670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2920" y="5257800"/>
            <a:ext cx="36576" cy="114300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28523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436.2 · P &lt; 2E-16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55321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GPA differs strongly across stress groups. Higher-stress students show higher median GPA — academic pressure tracks with performance.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18288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Hours by Stress Level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172200" y="2194560"/>
            <a:ext cx="5532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7" name="Image 1" descr="/mnt/user-data/outputs/charts/study_by_stre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0216" y="2322576"/>
            <a:ext cx="5276088" cy="26700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72200" y="5257800"/>
            <a:ext cx="36576" cy="114300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9" name="Text 15"/>
          <p:cNvSpPr/>
          <p:nvPr/>
        </p:nvSpPr>
        <p:spPr>
          <a:xfrm>
            <a:off x="6309360" y="528523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1200 · P &lt; 2E-16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309360" y="55321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F-statistic in the study. Study hours climb dramatically from Low → Moderate → High stress — stress is almost entirely a study-workload phenomenon.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ONE-WAY ANOVA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WELLBEING VARIABLES · STRESS LEVEL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stress </a:t>
            </a:r>
            <a:r>
              <a:rPr lang="en-US" sz="3600" i="1" dirty="0">
                <a:solidFill>
                  <a:srgbClr val="5C6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takes away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Hours by Stress Level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5532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1" name="Image 0" descr="/mnt/user-data/outputs/charts/sleep_by_str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2322576"/>
            <a:ext cx="5276088" cy="2670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2920" y="5257800"/>
            <a:ext cx="36576" cy="114300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28523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113.6 · P &lt; 2E-16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55321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High-stress students sleep noticeably less. Sleep duration varies significantly across stress tiers — wellbeing erodes as pressure climbs.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18288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Activity by Stress Level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172200" y="2194560"/>
            <a:ext cx="5532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7" name="Image 1" descr="/mnt/user-data/outputs/charts/pa_by_stre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0216" y="2322576"/>
            <a:ext cx="5276088" cy="26700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72200" y="5257800"/>
            <a:ext cx="36576" cy="114300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9" name="Text 15"/>
          <p:cNvSpPr/>
          <p:nvPr/>
        </p:nvSpPr>
        <p:spPr>
          <a:xfrm>
            <a:off x="6309360" y="5285232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50.61 · P &lt; 2E-16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309360" y="55321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 drops as stress rises. Low-stress students exercise most; high-stress students the least — a clear lifestyle imbalance.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ANOVA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FIVE ONE-WAY ANOVA TESTS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table of </a:t>
            </a:r>
            <a:r>
              <a:rPr lang="en-US" sz="36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verdicts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11680"/>
          <a:ext cx="6583680" cy="27614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200" dirty="0">
                          <a:solidFill>
                            <a:srgbClr val="6A6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 VARIABLE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200" dirty="0">
                          <a:solidFill>
                            <a:srgbClr val="6A6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F-STATISTIC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200" dirty="0">
                          <a:solidFill>
                            <a:srgbClr val="6A6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P-VALUE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200" dirty="0">
                          <a:solidFill>
                            <a:srgbClr val="6A65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4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GPA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84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436.20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C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 2e-16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4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4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Study Hours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84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1200.00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C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 2e-16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4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4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Sleep Hours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84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113.60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C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 2e-16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4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4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Physical Activity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84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50.61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C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 2e-16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84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1141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Social Hours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846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C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0.044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C6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49834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Signif. codes: *** p &lt; 0.001  ·  ** p &lt; 0.01  ·  * p &lt; 0.05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5285232"/>
            <a:ext cx="36576" cy="100584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531266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0080" y="555955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lifestyle/academic measures differ significantly across stress levels. Study Hours shows the largest effect by an order of magnitude; Social Hours barely clears the 0.05 threshold.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Hours by Stress Level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315200" y="2194560"/>
            <a:ext cx="4389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6" name="Image 0" descr="/mnt/user-data/outputs/charts/social_by_str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43216" y="2322576"/>
            <a:ext cx="4133088" cy="267004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315200" y="5212080"/>
            <a:ext cx="36576" cy="109728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8" name="Text 14"/>
          <p:cNvSpPr/>
          <p:nvPr/>
        </p:nvSpPr>
        <p:spPr>
          <a:xfrm>
            <a:off x="7452360" y="52395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 BUT REAL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52360" y="5486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3.13, p = 0.044. Statistically significant at 5%, but the effect is small — group means overlap heavily and practical significance is limited.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A2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2423160"/>
            <a:ext cx="121916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i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5638648" y="4709160"/>
            <a:ext cx="914400" cy="0"/>
          </a:xfrm>
          <a:prstGeom prst="line">
            <a:avLst/>
          </a:prstGeom>
          <a:noFill/>
          <a:ln w="12700">
            <a:solidFill>
              <a:srgbClr val="C9A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8920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2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&amp; K-Means Clustering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LOGISTIC REGRESSION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 REGRESSION · ASSUMPTIONS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conditions for </a:t>
            </a:r>
            <a:r>
              <a:rPr lang="en-US" sz="34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 inference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965960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1" name="Shape 9"/>
          <p:cNvSpPr/>
          <p:nvPr/>
        </p:nvSpPr>
        <p:spPr>
          <a:xfrm>
            <a:off x="3264408" y="213055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" y="2103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Binary outcome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" y="2532888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253288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603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dependent variable must be dichotomous (two categories).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" y="31089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7512" y="331012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 was recoded as StressBinary (1 = High, 0 = Low/Moderate) — a clean 0/1 outcome.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06824" y="1965960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06824" y="1965960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68312" y="213055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7068312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71416" y="2103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Independence of observations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71416" y="2532888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71416" y="253288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25603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Observations must be independent — no repeated measures or clustering.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71416" y="31089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71416" y="331012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contributes one independent row. No paired or nested sampling.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10728" y="1965960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0" name="Shape 28"/>
          <p:cNvSpPr/>
          <p:nvPr/>
        </p:nvSpPr>
        <p:spPr>
          <a:xfrm>
            <a:off x="8110728" y="1965960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72216" y="213055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2" name="Text 30"/>
          <p:cNvSpPr/>
          <p:nvPr/>
        </p:nvSpPr>
        <p:spPr>
          <a:xfrm>
            <a:off x="10872216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75320" y="2103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Linearity of the logit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75320" y="2532888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75320" y="253288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6" name="Text 34"/>
          <p:cNvSpPr/>
          <p:nvPr/>
        </p:nvSpPr>
        <p:spPr>
          <a:xfrm>
            <a:off x="8357616" y="25603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Continuous predictors should be linearly related to the log-odds of the outcome (not Y directly).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31089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75320" y="331012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span moderate ranges; large significant coefficients for Study and Sleep indicate a smooth monotonic effect on log-odds.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4242816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242816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1" name="Shape 39"/>
          <p:cNvSpPr/>
          <p:nvPr/>
        </p:nvSpPr>
        <p:spPr>
          <a:xfrm>
            <a:off x="3264408" y="4407408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2" name="Text 40"/>
          <p:cNvSpPr/>
          <p:nvPr/>
        </p:nvSpPr>
        <p:spPr>
          <a:xfrm>
            <a:off x="3264408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7512" y="437997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No severe multicollinearity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67512" y="4809744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7512" y="4809744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" y="4837176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Predictors shouldn't be too highly correlated with each other (usually VIF &lt; 5).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" y="538581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7512" y="5586984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predictor-pair correlation is Study × Physical Activity (r = −0.488) — below concerning thresholds. VIFs remain acceptable.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06824" y="4242816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50" name="Shape 48"/>
          <p:cNvSpPr/>
          <p:nvPr/>
        </p:nvSpPr>
        <p:spPr>
          <a:xfrm>
            <a:off x="4306824" y="4242816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51" name="Shape 49"/>
          <p:cNvSpPr/>
          <p:nvPr/>
        </p:nvSpPr>
        <p:spPr>
          <a:xfrm>
            <a:off x="7068312" y="4407408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52" name="Text 50"/>
          <p:cNvSpPr/>
          <p:nvPr/>
        </p:nvSpPr>
        <p:spPr>
          <a:xfrm>
            <a:off x="7068312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471416" y="437997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Large sample size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471416" y="4809744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471416" y="4809744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6" name="Text 54"/>
          <p:cNvSpPr/>
          <p:nvPr/>
        </p:nvSpPr>
        <p:spPr>
          <a:xfrm>
            <a:off x="4553712" y="4837176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of thumb: ≥ 10 events per predictor. Larger samples stabilize coefficients.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471416" y="538581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471416" y="5586984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1999 with 1029 High-stress events across 5 predictors → ≈ 206 events per predictor. Far exceeds the minimum.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10728" y="4242816"/>
            <a:ext cx="3675888" cy="2148840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60" name="Shape 58"/>
          <p:cNvSpPr/>
          <p:nvPr/>
        </p:nvSpPr>
        <p:spPr>
          <a:xfrm>
            <a:off x="8110728" y="4242816"/>
            <a:ext cx="3675888" cy="4572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61" name="Text 59"/>
          <p:cNvSpPr/>
          <p:nvPr/>
        </p:nvSpPr>
        <p:spPr>
          <a:xfrm>
            <a:off x="8275320" y="437997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logistic does not require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275320" y="4928616"/>
            <a:ext cx="3346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Unlike linear regression, logistic regression does </a:t>
            </a:r>
            <a:r>
              <a:rPr lang="en-US" sz="1100" b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</a:t>
            </a:r>
            <a:r>
              <a:rPr lang="en-US" sz="1100" i="1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require normal errors, homoscedasticity, or a normally distributed response. These are exactly the assumptions our data would most struggle with.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CLASSIFICATION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 REGRESSION · BINARY OUTCOME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stress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StressBinary = 1 (High) vs. 0 (Low/Moderate) · n = 1999 · AIC = 1270.6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6400800" cy="50292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194560"/>
            <a:ext cx="45720" cy="502920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Hours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+2.008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&lt; 2e-16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194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6400800" cy="50292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2788920"/>
            <a:ext cx="45720" cy="502920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Hours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−1.130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&lt; 2e-16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383280"/>
            <a:ext cx="6400800" cy="50292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383280"/>
            <a:ext cx="45720" cy="502920"/>
          </a:xfrm>
          <a:prstGeom prst="rect">
            <a:avLst/>
          </a:prstGeom>
          <a:solidFill>
            <a:srgbClr val="B8B0A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383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4612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+0.349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0.322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383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n.s.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977640"/>
            <a:ext cx="6400800" cy="50292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" y="3977640"/>
            <a:ext cx="45720" cy="502920"/>
          </a:xfrm>
          <a:prstGeom prst="rect">
            <a:avLst/>
          </a:prstGeom>
          <a:solidFill>
            <a:srgbClr val="B8B0A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Activity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46120" y="3977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+0.050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0.426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977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n.s.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572000"/>
            <a:ext cx="6400800" cy="50292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4572000"/>
            <a:ext cx="45720" cy="502920"/>
          </a:xfrm>
          <a:prstGeom prst="rect">
            <a:avLst/>
          </a:prstGeom>
          <a:solidFill>
            <a:srgbClr val="B8B0A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572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Hours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4612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+0.005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4572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0.947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4572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n.s.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5303520"/>
            <a:ext cx="3108960" cy="9144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5303520"/>
            <a:ext cx="3108960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4132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DEVIANCE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" y="5650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2769.5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3794760" y="5303520"/>
            <a:ext cx="3108960" cy="9144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5" name="Shape 43"/>
          <p:cNvSpPr/>
          <p:nvPr/>
        </p:nvSpPr>
        <p:spPr>
          <a:xfrm>
            <a:off x="3794760" y="5303520"/>
            <a:ext cx="3108960" cy="27432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0" y="54132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RESIDUAL DEVIANCE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931920" y="5650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1258.6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3931920" y="59436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00" i="1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1510.9 — strong fit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2194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signals do the work.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315200" y="27432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</a:t>
            </a: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sharply raises the log-odds of being classified High-stress — each extra hour roughly multiplies the odds by e^2.008 ≈ 7.4×.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3703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</a:t>
            </a: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cuts them — every extra hour of sleep roughly thirds the odds (e^−1.130 ≈ 0.32).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0" y="45262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A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GPA, social time, and physical activity contribute nothing statistically meaningful once Study and Sleep are accounted for.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315200" y="5303520"/>
            <a:ext cx="4389120" cy="914400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54" name="Text 52"/>
          <p:cNvSpPr/>
          <p:nvPr/>
        </p:nvSpPr>
        <p:spPr>
          <a:xfrm>
            <a:off x="7589520" y="5486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IN ONE LINE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589520" y="5760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is the residue of the balance between academic load and rest.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CLUSTERING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· ASSUMPTIONS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conditions for </a:t>
            </a:r>
            <a:r>
              <a:rPr lang="en-US" sz="34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partitioning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965960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1" name="Shape 9"/>
          <p:cNvSpPr/>
          <p:nvPr/>
        </p:nvSpPr>
        <p:spPr>
          <a:xfrm>
            <a:off x="3264408" y="213055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7512" y="2103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Numeric features only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" y="2532888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253288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603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uses Euclidean distance, which requires continuous numeric inputs.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" y="31089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7512" y="331012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predictors (Study, Sleep, Social, PhysAct) are continuous. Categorical Stress Level is excluded from clustering.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06824" y="1965960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06824" y="1965960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68312" y="213055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22" name="Text 20"/>
          <p:cNvSpPr/>
          <p:nvPr/>
        </p:nvSpPr>
        <p:spPr>
          <a:xfrm>
            <a:off x="7068312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71416" y="2103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Standardized scale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71416" y="2532888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71416" y="253288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25603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on different scales would let one dominate the distance metric.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71416" y="31089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71416" y="331012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have different units and ranges, so they were z-score scaled before clustering — Euclidean distance is now fair.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10728" y="1965960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30" name="Shape 28"/>
          <p:cNvSpPr/>
          <p:nvPr/>
        </p:nvSpPr>
        <p:spPr>
          <a:xfrm>
            <a:off x="8110728" y="1965960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72216" y="2130552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32" name="Text 30"/>
          <p:cNvSpPr/>
          <p:nvPr/>
        </p:nvSpPr>
        <p:spPr>
          <a:xfrm>
            <a:off x="10872216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75320" y="210312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Roughly spherical clusters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75320" y="2532888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275320" y="2532888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6" name="Text 34"/>
          <p:cNvSpPr/>
          <p:nvPr/>
        </p:nvSpPr>
        <p:spPr>
          <a:xfrm>
            <a:off x="8357616" y="2560320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works best when clusters have similar size, density, and shape.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3108960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75320" y="3310128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plot shows compact, approximately circular groupings with 73.4% variance captured in 2 dimensions.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4242816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242816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1" name="Shape 39"/>
          <p:cNvSpPr/>
          <p:nvPr/>
        </p:nvSpPr>
        <p:spPr>
          <a:xfrm>
            <a:off x="3264408" y="4407408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42" name="Text 40"/>
          <p:cNvSpPr/>
          <p:nvPr/>
        </p:nvSpPr>
        <p:spPr>
          <a:xfrm>
            <a:off x="3264408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7512" y="437997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Pre-chosen k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67512" y="4809744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7512" y="4809744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" y="4837176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must be specified in advance; wrong k leads to over- or under-clustering.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67512" y="538581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7512" y="5586984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justifies k = 3 — within-cluster sum of squares drops sharply then flattens after 3 clusters.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06824" y="4242816"/>
            <a:ext cx="3675888" cy="214884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50" name="Shape 48"/>
          <p:cNvSpPr/>
          <p:nvPr/>
        </p:nvSpPr>
        <p:spPr>
          <a:xfrm>
            <a:off x="4306824" y="4242816"/>
            <a:ext cx="3675888" cy="4572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51" name="Shape 49"/>
          <p:cNvSpPr/>
          <p:nvPr/>
        </p:nvSpPr>
        <p:spPr>
          <a:xfrm>
            <a:off x="7068312" y="4407408"/>
            <a:ext cx="777240" cy="256032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52" name="Text 50"/>
          <p:cNvSpPr/>
          <p:nvPr/>
        </p:nvSpPr>
        <p:spPr>
          <a:xfrm>
            <a:off x="7068312" y="44074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471416" y="4379976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No severe outliers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471416" y="4809744"/>
            <a:ext cx="3346704" cy="5029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471416" y="4809744"/>
            <a:ext cx="228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6" name="Text 54"/>
          <p:cNvSpPr/>
          <p:nvPr/>
        </p:nvSpPr>
        <p:spPr>
          <a:xfrm>
            <a:off x="4553712" y="4837176"/>
            <a:ext cx="3264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Centroids are means; extreme outliers pull them away from dense regions.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471416" y="5385816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11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471416" y="5586984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confirmed none of the continuous features have extreme outliers — cluster centroids won't be dragged by anomalies.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10728" y="4242816"/>
            <a:ext cx="3675888" cy="2148840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60" name="Shape 58"/>
          <p:cNvSpPr/>
          <p:nvPr/>
        </p:nvSpPr>
        <p:spPr>
          <a:xfrm>
            <a:off x="8110728" y="4242816"/>
            <a:ext cx="3675888" cy="45720"/>
          </a:xfrm>
          <a:prstGeom prst="rect">
            <a:avLst/>
          </a:prstGeom>
          <a:solidFill>
            <a:srgbClr val="C9A24A"/>
          </a:solidFill>
          <a:ln/>
        </p:spPr>
      </p:sp>
      <p:sp>
        <p:nvSpPr>
          <p:cNvPr id="61" name="Text 59"/>
          <p:cNvSpPr/>
          <p:nvPr/>
        </p:nvSpPr>
        <p:spPr>
          <a:xfrm>
            <a:off x="8275320" y="437997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note on k-means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275320" y="4928616"/>
            <a:ext cx="33467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is </a:t>
            </a:r>
            <a:r>
              <a:rPr lang="en-US" sz="1100" b="1" dirty="0">
                <a:solidFill>
                  <a:srgbClr val="C9A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</a:t>
            </a:r>
            <a:r>
              <a:rPr lang="en-US" sz="1100" i="1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no labels, no p-values. It finds structure without testing hypotheses, so the key question isn't statistical significance but interpretability of the resulting clusters.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CLUSTERING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K-MEANS · ELBOW METHOD &amp; PROFILES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</a:t>
            </a: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groups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k · Elbow Method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5532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1" name="Image 0" descr="/mnt/user-data/outputs/charts/elb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2322576"/>
            <a:ext cx="5276088" cy="267004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2920" y="5230368"/>
            <a:ext cx="36576" cy="1097280"/>
          </a:xfrm>
          <a:prstGeom prst="rect">
            <a:avLst/>
          </a:prstGeom>
          <a:solidFill>
            <a:srgbClr val="5C6B3C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525780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C6B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550468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drops steeply from 1 → 3 clusters, then flattens. Three clusters balance parsimony and fit.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2200" y="18288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Plot · Dim1 × Dim2 = 73.4%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72200" y="2194560"/>
            <a:ext cx="55321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pic>
        <p:nvPicPr>
          <p:cNvPr id="17" name="Image 1" descr="/mnt/user-data/outputs/charts/clust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0216" y="2322576"/>
            <a:ext cx="5276088" cy="26700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72200" y="5230368"/>
            <a:ext cx="1783080" cy="109728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9" name="Shape 15"/>
          <p:cNvSpPr/>
          <p:nvPr/>
        </p:nvSpPr>
        <p:spPr>
          <a:xfrm>
            <a:off x="6172200" y="5230368"/>
            <a:ext cx="1783080" cy="36576"/>
          </a:xfrm>
          <a:prstGeom prst="rect">
            <a:avLst/>
          </a:prstGeom>
          <a:solidFill>
            <a:srgbClr val="E88A68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534009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A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Academically Focused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281928" y="57790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study, low leisure.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046720" y="5230368"/>
            <a:ext cx="1783080" cy="109728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3" name="Shape 19"/>
          <p:cNvSpPr/>
          <p:nvPr/>
        </p:nvSpPr>
        <p:spPr>
          <a:xfrm>
            <a:off x="8046720" y="5230368"/>
            <a:ext cx="1783080" cy="36576"/>
          </a:xfrm>
          <a:prstGeom prst="rect">
            <a:avLst/>
          </a:prstGeom>
          <a:solidFill>
            <a:srgbClr val="6FA86F"/>
          </a:solidFill>
          <a:ln/>
        </p:spPr>
      </p:sp>
      <p:sp>
        <p:nvSpPr>
          <p:cNvPr id="24" name="Text 20"/>
          <p:cNvSpPr/>
          <p:nvPr/>
        </p:nvSpPr>
        <p:spPr>
          <a:xfrm>
            <a:off x="8156448" y="534009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FA8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156448" y="57790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across all activities.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9921240" y="5230368"/>
            <a:ext cx="1783080" cy="109728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7" name="Shape 23"/>
          <p:cNvSpPr/>
          <p:nvPr/>
        </p:nvSpPr>
        <p:spPr>
          <a:xfrm>
            <a:off x="9921240" y="5230368"/>
            <a:ext cx="1783080" cy="36576"/>
          </a:xfrm>
          <a:prstGeom prst="rect">
            <a:avLst/>
          </a:prstGeom>
          <a:solidFill>
            <a:srgbClr val="6789C4"/>
          </a:solidFill>
          <a:ln/>
        </p:spPr>
      </p:sp>
      <p:sp>
        <p:nvSpPr>
          <p:cNvPr id="28" name="Text 24"/>
          <p:cNvSpPr/>
          <p:nvPr/>
        </p:nvSpPr>
        <p:spPr>
          <a:xfrm>
            <a:off x="10030968" y="534009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789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Activity-First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0030968" y="57790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Social/physical &gt; study.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91440" cy="91440"/>
          </a:xfrm>
          <a:prstGeom prst="ellipse">
            <a:avLst/>
          </a:prstGeom>
          <a:solidFill>
            <a:srgbClr val="B8461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10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15600" y="2103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54864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228600" cy="10973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 &amp; FINAL INSIGHT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r>
              <a:rPr lang="en-US" sz="3800" i="1" dirty="0">
                <a:solidFill>
                  <a:srgbClr val="B846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</a:t>
            </a:r>
            <a:r>
              <a:rPr lang="en-US" sz="38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thesis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3730752" cy="18288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011680"/>
            <a:ext cx="3730752" cy="3657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14884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" y="2423160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→ GPA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" y="2880360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is the dominant driver of academic performance (r = 0.735). Sleep, social, and physical activity show weak or inverse links.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0832" y="2011680"/>
            <a:ext cx="3730752" cy="18288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0832" y="2011680"/>
            <a:ext cx="3730752" cy="3657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14884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ANOVA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reshapes lifestyle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2880360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lifestyle/academic measures differ significantly across stress tiers. Study explains the most variance; social the least.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38744" y="2011680"/>
            <a:ext cx="3730752" cy="1828800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38744" y="2011680"/>
            <a:ext cx="3730752" cy="36576"/>
          </a:xfrm>
          <a:prstGeom prst="rect">
            <a:avLst/>
          </a:prstGeom>
          <a:solidFill>
            <a:srgbClr val="B8461E"/>
          </a:solidFill>
          <a:ln/>
        </p:spPr>
      </p:sp>
      <p:sp>
        <p:nvSpPr>
          <p:cNvPr id="21" name="Text 19"/>
          <p:cNvSpPr/>
          <p:nvPr/>
        </p:nvSpPr>
        <p:spPr>
          <a:xfrm>
            <a:off x="8439912" y="214884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B84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39912" y="2423160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Two-factor stress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39912" y="2880360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identifies Study (+) and Sleep (−) as the only meaningful predictors of high stress. K-means reveals three distinct lifestyle profiles.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069080"/>
            <a:ext cx="11201400" cy="1691640"/>
          </a:xfrm>
          <a:prstGeom prst="rect">
            <a:avLst/>
          </a:prstGeom>
          <a:solidFill>
            <a:srgbClr val="11141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251960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INSIGHT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4526280"/>
            <a:ext cx="10652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ED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success is strongly driven by study effort — but excessive focus on studying, without adequate sleep, physical activity, and social interaction, contributes to higher stress. Promoting balanced time management is essential for both achievement and student wellbeing.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5989320"/>
            <a:ext cx="11183112" cy="0"/>
          </a:xfrm>
          <a:prstGeom prst="line">
            <a:avLst/>
          </a:prstGeom>
          <a:noFill/>
          <a:ln w="6350">
            <a:solidFill>
              <a:srgbClr val="2A2F38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080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11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610819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A6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 KHATTAB AL SAQRI · 138349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3623</Words>
  <Application>Microsoft Office PowerPoint</Application>
  <PresentationFormat>Widescreen</PresentationFormat>
  <Paragraphs>570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Students' Lifestyle &amp; Academic Performance</dc:title>
  <dc:subject>PptxGenJS Presentation</dc:subject>
  <dc:creator>Al Khattab Al Saqri; Mohammed Bani Oraba</dc:creator>
  <cp:lastModifiedBy>Al Khattab Hamood Al Saqri</cp:lastModifiedBy>
  <cp:revision>2</cp:revision>
  <dcterms:created xsi:type="dcterms:W3CDTF">2026-04-19T11:37:23Z</dcterms:created>
  <dcterms:modified xsi:type="dcterms:W3CDTF">2026-05-09T15:43:33Z</dcterms:modified>
</cp:coreProperties>
</file>